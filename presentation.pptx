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0"/>
              </a:lnSpc>
              <a:defRPr sz="4800" b="1" i="0">
                <a:solidFill>
                  <a:srgbClr val="FFFFFF"/>
                </a:solidFill>
                <a:latin typeface="Microsoft YaHei"/>
              </a:defRPr>
            </a:pPr>
            <a:r>
              <a:t>智慧校园管理系统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2834640"/>
            <a:ext cx="2743200" cy="54864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2800" b="0" i="0">
                <a:solidFill>
                  <a:srgbClr val="BBDEFB"/>
                </a:solidFill>
                <a:latin typeface="Microsoft YaHei"/>
              </a:defRPr>
            </a:pPr>
            <a:r>
              <a:t>一站式数字化校园解决方案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000" b="0" i="0">
                <a:solidFill>
                  <a:srgbClr val="93C5FD"/>
                </a:solidFill>
                <a:latin typeface="Microsoft YaHei"/>
              </a:defRPr>
            </a:pPr>
            <a:r>
              <a:t>参赛团队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060BD6"/>
                </a:solidFill>
                <a:latin typeface="Microsoft YaHei"/>
              </a:defRPr>
            </a:pPr>
            <a:r>
              <a:t>行业痛点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00"/>
              </a:lnSpc>
              <a:defRPr sz="3800" b="1" i="0">
                <a:solidFill>
                  <a:srgbClr val="111111"/>
                </a:solidFill>
                <a:latin typeface="Microsoft YaHei"/>
              </a:defRPr>
            </a:pPr>
            <a:r>
              <a:t>校园管理面临的四大挑战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554480"/>
          </a:xfrm>
          <a:prstGeom prst="roundRect">
            <a:avLst/>
          </a:prstGeom>
          <a:solidFill>
            <a:srgbClr val="EF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2563EB"/>
                </a:solidFill>
                <a:latin typeface="Microsoft YaHei"/>
              </a:defRPr>
            </a:pPr>
            <a:r>
              <a:t>数据孤岛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97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校园管理信息化程度低，</a:t>
            </a:r>
            <a:br/>
            <a:r>
              <a:t>数据孤岛严重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03520" cy="1554480"/>
          </a:xfrm>
          <a:prstGeom prst="roundRect">
            <a:avLst/>
          </a:prstGeom>
          <a:solidFill>
            <a:srgbClr val="EF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21945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94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2563EB"/>
                </a:solidFill>
                <a:latin typeface="Microsoft YaHei"/>
              </a:defRPr>
            </a:pPr>
            <a:r>
              <a:t>效率低下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697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师生日常办事流程繁琐，</a:t>
            </a:r>
            <a:br/>
            <a:r>
              <a:t>效率低下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303520" cy="1554480"/>
          </a:xfrm>
          <a:prstGeom prst="roundRect">
            <a:avLst/>
          </a:prstGeom>
          <a:solidFill>
            <a:srgbClr val="EF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2563EB"/>
                </a:solidFill>
                <a:latin typeface="Microsoft YaHei"/>
              </a:defRPr>
            </a:pPr>
            <a:r>
              <a:t>缺乏统一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17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各部门系统独立，</a:t>
            </a:r>
            <a:br/>
            <a:r>
              <a:t>缺乏统一管理平台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31920"/>
            <a:ext cx="5303520" cy="1554480"/>
          </a:xfrm>
          <a:prstGeom prst="roundRect">
            <a:avLst/>
          </a:prstGeom>
          <a:solidFill>
            <a:srgbClr val="EF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0" y="41148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114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2563EB"/>
                </a:solidFill>
                <a:latin typeface="Microsoft YaHei"/>
              </a:defRPr>
            </a:pPr>
            <a:r>
              <a:t>难以支撑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617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传统管理方式难以支撑</a:t>
            </a:r>
            <a:br/>
            <a:r>
              <a:t>现代化教学需求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563EB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00"/>
              </a:lnSpc>
              <a:defRPr sz="3800" b="1" i="0">
                <a:solidFill>
                  <a:srgbClr val="111111"/>
                </a:solidFill>
                <a:latin typeface="Microsoft YaHei"/>
              </a:defRPr>
            </a:pPr>
            <a:r>
              <a:t>我们的破局之道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5544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060BD6"/>
                </a:solidFill>
                <a:latin typeface="Microsoft YaHei"/>
              </a:defRPr>
            </a:pPr>
            <a:r>
              <a:t>一体化平台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97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打通数据壁垒，实现信息互联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03520" cy="15544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21945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94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2563EB"/>
                </a:solidFill>
                <a:latin typeface="Microsoft YaHei"/>
              </a:defRPr>
            </a:pPr>
            <a:r>
              <a:t>全场景覆盖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697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教务/宿舍/餐饮/图书馆核心场景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303520" cy="15544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060BD6"/>
                </a:solidFill>
                <a:latin typeface="Microsoft YaHei"/>
              </a:defRPr>
            </a:pPr>
            <a:r>
              <a:t>数据看板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17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实时数据可视化，辅助科学决策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31920"/>
            <a:ext cx="5303520" cy="15544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0" y="41148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114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2563EB"/>
                </a:solidFill>
                <a:latin typeface="Microsoft YaHei"/>
              </a:defRPr>
            </a:pPr>
            <a:r>
              <a:t>多端适配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617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响应式设计，PC/移动端无缝访问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060BD6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00"/>
              </a:lnSpc>
              <a:defRPr sz="3800" b="1" i="0">
                <a:solidFill>
                  <a:srgbClr val="111111"/>
                </a:solidFill>
                <a:latin typeface="Microsoft YaHei"/>
              </a:defRPr>
            </a:pPr>
            <a:r>
              <a:t>七大核心模块，覆盖校园全场景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560320" cy="1371600"/>
          </a:xfrm>
          <a:prstGeom prst="roundRect">
            <a:avLst/>
          </a:prstGeom>
          <a:solidFill>
            <a:srgbClr val="EFF2FE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75688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500" b="1" i="0">
                <a:solidFill>
                  <a:srgbClr val="111111"/>
                </a:solidFill>
                <a:latin typeface="Microsoft YaHei"/>
              </a:defRPr>
            </a:pPr>
            <a:r>
              <a:t>数据看板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 i="0">
                <a:solidFill>
                  <a:srgbClr val="6B7280"/>
                </a:solidFill>
                <a:latin typeface="Microsoft YaHei"/>
              </a:defRPr>
            </a:pPr>
            <a:r>
              <a:t>实时运营概览</a:t>
            </a:r>
            <a:br/>
            <a:r>
              <a:t>可视化图表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965960"/>
            <a:ext cx="2560320" cy="1371600"/>
          </a:xfrm>
          <a:prstGeom prst="roundRect">
            <a:avLst/>
          </a:prstGeom>
          <a:solidFill>
            <a:srgbClr val="EFF2FE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49040" y="2075688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500" b="1" i="0">
                <a:solidFill>
                  <a:srgbClr val="111111"/>
                </a:solidFill>
                <a:latin typeface="Microsoft YaHei"/>
              </a:defRPr>
            </a:pPr>
            <a:r>
              <a:t>教务管理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 i="0">
                <a:solidFill>
                  <a:srgbClr val="6B7280"/>
                </a:solidFill>
                <a:latin typeface="Microsoft YaHei"/>
              </a:defRPr>
            </a:pPr>
            <a:r>
              <a:t>课程、成绩、</a:t>
            </a:r>
            <a:br/>
            <a:r>
              <a:t>教学安排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965960"/>
            <a:ext cx="2560320" cy="1371600"/>
          </a:xfrm>
          <a:prstGeom prst="roundRect">
            <a:avLst/>
          </a:prstGeom>
          <a:solidFill>
            <a:srgbClr val="EFF2FE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2075688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500" b="1" i="0">
                <a:solidFill>
                  <a:srgbClr val="111111"/>
                </a:solidFill>
                <a:latin typeface="Microsoft YaHei"/>
              </a:defRPr>
            </a:pPr>
            <a:r>
              <a:t>课程表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 i="0">
                <a:solidFill>
                  <a:srgbClr val="6B7280"/>
                </a:solidFill>
                <a:latin typeface="Microsoft YaHei"/>
              </a:defRPr>
            </a:pPr>
            <a:r>
              <a:t>智能排课</a:t>
            </a:r>
            <a:br/>
            <a:r>
              <a:t>周历视图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965960"/>
            <a:ext cx="2560320" cy="1371600"/>
          </a:xfrm>
          <a:prstGeom prst="roundRect">
            <a:avLst/>
          </a:prstGeom>
          <a:solidFill>
            <a:srgbClr val="EFF2FE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2075688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500" b="1" i="0">
                <a:solidFill>
                  <a:srgbClr val="111111"/>
                </a:solidFill>
                <a:latin typeface="Microsoft YaHei"/>
              </a:defRPr>
            </a:pPr>
            <a:r>
              <a:t>学生管理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7432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 i="0">
                <a:solidFill>
                  <a:srgbClr val="6B7280"/>
                </a:solidFill>
                <a:latin typeface="Microsoft YaHei"/>
              </a:defRPr>
            </a:pPr>
            <a:r>
              <a:t>学籍、信息、</a:t>
            </a:r>
            <a:br/>
            <a:r>
              <a:t>状态追踪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2560320" cy="13716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3767328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69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500" b="1" i="0">
                <a:solidFill>
                  <a:srgbClr val="111111"/>
                </a:solidFill>
                <a:latin typeface="Microsoft YaHei"/>
              </a:defRPr>
            </a:pPr>
            <a:r>
              <a:t>图书馆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34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 i="0">
                <a:solidFill>
                  <a:srgbClr val="6B7280"/>
                </a:solidFill>
                <a:latin typeface="Microsoft YaHei"/>
              </a:defRPr>
            </a:pPr>
            <a:r>
              <a:t>馆藏检索、</a:t>
            </a:r>
            <a:br/>
            <a:r>
              <a:t>借阅管理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3657600"/>
            <a:ext cx="2560320" cy="13716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49040" y="3767328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4069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500" b="1" i="0">
                <a:solidFill>
                  <a:srgbClr val="111111"/>
                </a:solidFill>
                <a:latin typeface="Microsoft YaHei"/>
              </a:defRPr>
            </a:pPr>
            <a:r>
              <a:t>餐饮服务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434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 i="0">
                <a:solidFill>
                  <a:srgbClr val="6B7280"/>
                </a:solidFill>
                <a:latin typeface="Microsoft YaHei"/>
              </a:defRPr>
            </a:pPr>
            <a:r>
              <a:t>菜单、</a:t>
            </a:r>
            <a:br/>
            <a:r>
              <a:t>营养分析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657600"/>
            <a:ext cx="2560320" cy="13716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29400" y="3767328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069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500" b="1" i="0">
                <a:solidFill>
                  <a:srgbClr val="111111"/>
                </a:solidFill>
                <a:latin typeface="Microsoft YaHei"/>
              </a:defRPr>
            </a:pPr>
            <a:r>
              <a:t>宿舍管理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434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 i="0">
                <a:solidFill>
                  <a:srgbClr val="6B7280"/>
                </a:solidFill>
                <a:latin typeface="Microsoft YaHei"/>
              </a:defRPr>
            </a:pPr>
            <a:r>
              <a:t>分配、报修、</a:t>
            </a:r>
            <a:br/>
            <a:r>
              <a:t>入住统计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563EB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00"/>
              </a:lnSpc>
              <a:defRPr sz="3800" b="1" i="0">
                <a:solidFill>
                  <a:srgbClr val="111111"/>
                </a:solidFill>
                <a:latin typeface="Microsoft YaHei"/>
              </a:defRPr>
            </a:pPr>
            <a:r>
              <a:t>现代化前端技术栈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377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377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111111"/>
                </a:solidFill>
                <a:latin typeface="Microsoft YaHei"/>
              </a:defRPr>
            </a:pPr>
            <a:r>
              <a:t>React 18 + Vite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0" i="0">
                <a:solidFill>
                  <a:srgbClr val="6B7280"/>
                </a:solidFill>
                <a:latin typeface="Microsoft YaHei"/>
              </a:defRPr>
            </a:pPr>
            <a:r>
              <a:t>高性能前端框架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2377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0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377440" cy="54864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111111"/>
                </a:solidFill>
                <a:latin typeface="Microsoft YaHei"/>
              </a:defRPr>
            </a:pPr>
            <a:r>
              <a:t>Tailwind CSS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0" i="0">
                <a:solidFill>
                  <a:srgbClr val="6B7280"/>
                </a:solidFill>
                <a:latin typeface="Microsoft YaHei"/>
              </a:defRPr>
            </a:pPr>
            <a:r>
              <a:t>原子化样式方案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2377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2377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111111"/>
                </a:solidFill>
                <a:latin typeface="Microsoft YaHei"/>
              </a:defRPr>
            </a:pPr>
            <a:r>
              <a:t>Recharts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72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0" i="0">
                <a:solidFill>
                  <a:srgbClr val="6B7280"/>
                </a:solidFill>
                <a:latin typeface="Microsoft YaHei"/>
              </a:defRPr>
            </a:pPr>
            <a:r>
              <a:t>可视化图表库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931920"/>
            <a:ext cx="2377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0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0" y="3931920"/>
            <a:ext cx="2377440" cy="54864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111111"/>
                </a:solidFill>
                <a:latin typeface="Microsoft YaHei"/>
              </a:defRPr>
            </a:pPr>
            <a:r>
              <a:t>React Router 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4572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0" i="0">
                <a:solidFill>
                  <a:srgbClr val="6B7280"/>
                </a:solidFill>
                <a:latin typeface="Microsoft YaHei"/>
              </a:defRPr>
            </a:pPr>
            <a:r>
              <a:t>声明式路由管理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931920"/>
            <a:ext cx="2377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931920"/>
            <a:ext cx="2377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111111"/>
                </a:solidFill>
                <a:latin typeface="Microsoft YaHei"/>
              </a:defRPr>
            </a:pPr>
            <a:r>
              <a:t>Lucide React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572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0" i="0">
                <a:solidFill>
                  <a:srgbClr val="6B7280"/>
                </a:solidFill>
                <a:latin typeface="Microsoft YaHei"/>
              </a:defRPr>
            </a:pPr>
            <a:r>
              <a:t>现代化图标库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060BD6"/>
                </a:solidFill>
                <a:latin typeface="Microsoft YaHei"/>
              </a:defRPr>
            </a:pPr>
            <a:r>
              <a:t>产品亮点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00"/>
              </a:lnSpc>
              <a:defRPr sz="3800" b="1" i="0">
                <a:solidFill>
                  <a:srgbClr val="111111"/>
                </a:solidFill>
                <a:latin typeface="Microsoft YaHei"/>
              </a:defRPr>
            </a:pPr>
            <a:r>
              <a:t>为什么选择我们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11680"/>
            <a:ext cx="102412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 i="0">
                <a:solidFill>
                  <a:srgbClr val="111111"/>
                </a:solidFill>
                <a:latin typeface="Microsoft YaHei"/>
              </a:defRPr>
            </a:pPr>
            <a:r>
              <a:t>7大核心模块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50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覆盖校园全场景，从教务到后勤一站式解决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73152" cy="822960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108960"/>
            <a:ext cx="102412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154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 i="0">
                <a:solidFill>
                  <a:srgbClr val="111111"/>
                </a:solidFill>
                <a:latin typeface="Microsoft YaHei"/>
              </a:defRPr>
            </a:pPr>
            <a:r>
              <a:t>响应式设计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478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自适应PC、平板、手机，随时随地访问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206240"/>
            <a:ext cx="102412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251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 i="0">
                <a:solidFill>
                  <a:srgbClr val="111111"/>
                </a:solidFill>
                <a:latin typeface="Microsoft YaHei"/>
              </a:defRPr>
            </a:pPr>
            <a:r>
              <a:t>组件化架构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45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高内聚低耦合，易于扩展和维护升级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03520"/>
            <a:ext cx="73152" cy="822960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303520"/>
            <a:ext cx="10241280" cy="822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349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200" b="1" i="0">
                <a:solidFill>
                  <a:srgbClr val="111111"/>
                </a:solidFill>
                <a:latin typeface="Microsoft YaHei"/>
              </a:defRPr>
            </a:pPr>
            <a:r>
              <a:t>实时可视化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7424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数据驱动决策，运营状态一目了然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563EB"/>
                </a:solidFill>
                <a:latin typeface="Microsoft YaHei"/>
              </a:defRPr>
            </a:pPr>
            <a:r>
              <a:t>市场前景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00"/>
              </a:lnSpc>
              <a:defRPr sz="3800" b="1" i="0">
                <a:solidFill>
                  <a:srgbClr val="111111"/>
                </a:solidFill>
                <a:latin typeface="Microsoft YaHei"/>
              </a:defRPr>
            </a:pPr>
            <a:r>
              <a:t>千亿级蓝海市场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554480"/>
          </a:xfrm>
          <a:prstGeom prst="roundRect">
            <a:avLst/>
          </a:prstGeom>
          <a:solidFill>
            <a:srgbClr val="EF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54864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2563EB"/>
                </a:solidFill>
                <a:latin typeface="Microsoft YaHei"/>
              </a:defRPr>
            </a:pPr>
            <a:r>
              <a:t>千亿市场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0" i="0">
                <a:solidFill>
                  <a:srgbClr val="6B7280"/>
                </a:solidFill>
                <a:latin typeface="Microsoft YaHei"/>
              </a:defRPr>
            </a:pPr>
            <a:r>
              <a:t>中国智慧校园市场规模超千亿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03520" cy="1554480"/>
          </a:xfrm>
          <a:prstGeom prst="roundRect">
            <a:avLst/>
          </a:prstGeom>
          <a:solidFill>
            <a:srgbClr val="EF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2148840"/>
            <a:ext cx="54864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2563EB"/>
                </a:solidFill>
                <a:latin typeface="Microsoft YaHei"/>
              </a:defRPr>
            </a:pPr>
            <a:r>
              <a:t>政策驱动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0" i="0">
                <a:solidFill>
                  <a:srgbClr val="6B7280"/>
                </a:solidFill>
                <a:latin typeface="Microsoft YaHei"/>
              </a:defRPr>
            </a:pPr>
            <a:r>
              <a:t>教育数字化转型全面加速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303520" cy="1554480"/>
          </a:xfrm>
          <a:prstGeom prst="roundRect">
            <a:avLst/>
          </a:prstGeom>
          <a:solidFill>
            <a:srgbClr val="EF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4069080"/>
            <a:ext cx="54864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2563EB"/>
                </a:solidFill>
                <a:latin typeface="Microsoft YaHei"/>
              </a:defRPr>
            </a:pPr>
            <a:r>
              <a:t>融合需求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26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0" i="0">
                <a:solidFill>
                  <a:srgbClr val="6B7280"/>
                </a:solidFill>
                <a:latin typeface="Microsoft YaHei"/>
              </a:defRPr>
            </a:pPr>
            <a:r>
              <a:t>线上线下混合教学成为常态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31920"/>
            <a:ext cx="5303520" cy="1554480"/>
          </a:xfrm>
          <a:prstGeom prst="roundRect">
            <a:avLst/>
          </a:prstGeom>
          <a:solidFill>
            <a:srgbClr val="EF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4069080"/>
            <a:ext cx="54864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2563EB"/>
                </a:solidFill>
                <a:latin typeface="Microsoft YaHei"/>
              </a:defRPr>
            </a:pPr>
            <a:r>
              <a:t>目标客户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526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0" i="0">
                <a:solidFill>
                  <a:srgbClr val="6B7280"/>
                </a:solidFill>
                <a:latin typeface="Microsoft YaHei"/>
              </a:defRPr>
            </a:pPr>
            <a:r>
              <a:t>高校、中学、职业院校全覆盖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060BD6"/>
                </a:solidFill>
                <a:latin typeface="Microsoft YaHei"/>
              </a:defRPr>
            </a:pPr>
            <a:r>
              <a:t>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00"/>
              </a:lnSpc>
              <a:defRPr sz="3800" b="1" i="0">
                <a:solidFill>
                  <a:srgbClr val="111111"/>
                </a:solidFill>
                <a:latin typeface="Microsoft YaHei"/>
              </a:defRPr>
            </a:pPr>
            <a:r>
              <a:t>差异化竞争策略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111111"/>
                </a:solidFill>
                <a:latin typeface="Microsoft YaHei"/>
              </a:defRPr>
            </a:pPr>
            <a:r>
              <a:t>轻量化部署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0" i="0">
                <a:solidFill>
                  <a:srgbClr val="6B7280"/>
                </a:solidFill>
                <a:latin typeface="Microsoft YaHei"/>
              </a:defRPr>
            </a:pPr>
            <a:r>
              <a:t>低成本快速上线，无需复杂硬件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11296"/>
            <a:ext cx="5303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035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0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111111"/>
                </a:solidFill>
                <a:latin typeface="Microsoft YaHei"/>
              </a:defRPr>
            </a:pPr>
            <a:r>
              <a:t>模块化设计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0" i="0">
                <a:solidFill>
                  <a:srgbClr val="6B7280"/>
                </a:solidFill>
                <a:latin typeface="Microsoft YaHei"/>
              </a:defRPr>
            </a:pPr>
            <a:r>
              <a:t>按需组合功能模块，灵活适配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511296"/>
            <a:ext cx="5303520" cy="54864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3035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111111"/>
                </a:solidFill>
                <a:latin typeface="Microsoft YaHei"/>
              </a:defRPr>
            </a:pPr>
            <a:r>
              <a:t>优秀体验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0" i="0">
                <a:solidFill>
                  <a:srgbClr val="6B7280"/>
                </a:solidFill>
                <a:latin typeface="Microsoft YaHei"/>
              </a:defRPr>
            </a:pPr>
            <a:r>
              <a:t>简洁直观的操作界面，降低学习成本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31536"/>
            <a:ext cx="5303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931920"/>
            <a:ext cx="53035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0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111111"/>
                </a:solidFill>
                <a:latin typeface="Microsoft YaHei"/>
              </a:defRPr>
            </a:pPr>
            <a:r>
              <a:t>开源生态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572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0" i="0">
                <a:solidFill>
                  <a:srgbClr val="6B7280"/>
                </a:solidFill>
                <a:latin typeface="Microsoft YaHei"/>
              </a:defRPr>
            </a:pPr>
            <a:r>
              <a:t>成熟技术栈，社区活跃，持续迭代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431536"/>
            <a:ext cx="5303520" cy="54864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563EB"/>
                </a:solidFill>
                <a:latin typeface="Microsoft YaHei"/>
              </a:defRPr>
            </a:pPr>
            <a:r>
              <a:t>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00"/>
              </a:lnSpc>
              <a:defRPr sz="3800" b="1" i="0">
                <a:solidFill>
                  <a:srgbClr val="111111"/>
                </a:solidFill>
                <a:latin typeface="Microsoft YaHei"/>
              </a:defRPr>
            </a:pPr>
            <a:r>
              <a:t>多元化的盈利模式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1089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10896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稳定现金流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200" b="1" i="0">
                <a:solidFill>
                  <a:srgbClr val="111111"/>
                </a:solidFill>
                <a:latin typeface="Microsoft YaHei"/>
              </a:defRPr>
            </a:pPr>
            <a:r>
              <a:t>SaaS订阅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按学校规模分级定价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1089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0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3108960" cy="548640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高客单价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200" b="1" i="0">
                <a:solidFill>
                  <a:srgbClr val="111111"/>
                </a:solidFill>
                <a:latin typeface="Microsoft YaHei"/>
              </a:defRPr>
            </a:pPr>
            <a:r>
              <a:t>定制开发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004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针对大型客户需求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1089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310896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高利润率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200" b="1" i="0">
                <a:solidFill>
                  <a:srgbClr val="111111"/>
                </a:solidFill>
                <a:latin typeface="Microsoft YaHei"/>
              </a:defRPr>
            </a:pPr>
            <a:r>
              <a:t>增值服务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2004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AI推荐、数据分析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060BD6"/>
                </a:solidFill>
                <a:latin typeface="Microsoft YaHei"/>
              </a:defRPr>
            </a:pPr>
            <a:r>
              <a:t>发展规划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00"/>
              </a:lnSpc>
              <a:defRPr sz="3800" b="1" i="0">
                <a:solidFill>
                  <a:srgbClr val="111111"/>
                </a:solidFill>
                <a:latin typeface="Microsoft YaHei"/>
              </a:defRPr>
            </a:pPr>
            <a:r>
              <a:t>产品演进路线图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31720"/>
            <a:ext cx="10332720" cy="3657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1488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6B7280"/>
                </a:solidFill>
                <a:latin typeface="Microsoft YaHe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111111"/>
                </a:solidFill>
                <a:latin typeface="Microsoft YaHei"/>
              </a:defRPr>
            </a:pPr>
            <a:r>
              <a:t>核心功能完善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108960"/>
            <a:ext cx="182880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11" name="Oval 10"/>
          <p:cNvSpPr/>
          <p:nvPr/>
        </p:nvSpPr>
        <p:spPr>
          <a:xfrm>
            <a:off x="3063240" y="210312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OK</a:t>
            </a:r>
          </a:p>
        </p:txBody>
      </p:sp>
      <p:sp>
        <p:nvSpPr>
          <p:cNvPr id="12" name="Oval 11"/>
          <p:cNvSpPr/>
          <p:nvPr/>
        </p:nvSpPr>
        <p:spPr>
          <a:xfrm>
            <a:off x="3931920" y="2148840"/>
            <a:ext cx="365760" cy="365760"/>
          </a:xfrm>
          <a:prstGeom prst="ellipse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6B7280"/>
                </a:solidFill>
                <a:latin typeface="Microsoft YaHe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111111"/>
                </a:solidFill>
                <a:latin typeface="Microsoft YaHei"/>
              </a:defRPr>
            </a:pPr>
            <a:r>
              <a:t>移动端 APP / 小程序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3108960"/>
            <a:ext cx="1828800" cy="320040"/>
          </a:xfrm>
          <a:prstGeom prst="round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进行中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21488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6B7280"/>
                </a:solidFill>
                <a:latin typeface="Microsoft YaHe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111111"/>
                </a:solidFill>
                <a:latin typeface="Microsoft YaHei"/>
              </a:defRPr>
            </a:pPr>
            <a:r>
              <a:t>AI 智能推荐与数据分析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108960"/>
            <a:ext cx="182880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规划中</a:t>
            </a:r>
          </a:p>
        </p:txBody>
      </p:sp>
      <p:sp>
        <p:nvSpPr>
          <p:cNvPr id="20" name="Oval 19"/>
          <p:cNvSpPr/>
          <p:nvPr/>
        </p:nvSpPr>
        <p:spPr>
          <a:xfrm>
            <a:off x="9784080" y="2148840"/>
            <a:ext cx="365760" cy="365760"/>
          </a:xfrm>
          <a:prstGeom prst="ellipse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6B7280"/>
                </a:solidFill>
                <a:latin typeface="Microsoft YaHe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111111"/>
                </a:solidFill>
                <a:latin typeface="Microsoft YaHei"/>
              </a:defRPr>
            </a:pPr>
            <a:r>
              <a:t>多校区、多租户支持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3108960"/>
            <a:ext cx="1828800" cy="320040"/>
          </a:xfrm>
          <a:prstGeom prst="round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愿景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563EB"/>
                </a:solidFill>
                <a:latin typeface="Microsoft YaHei"/>
              </a:defRPr>
            </a:pPr>
            <a:r>
              <a:t>团队介绍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00"/>
              </a:lnSpc>
              <a:defRPr sz="3800" b="1" i="0">
                <a:solidFill>
                  <a:srgbClr val="111111"/>
                </a:solidFill>
                <a:latin typeface="Microsoft YaHei"/>
              </a:defRPr>
            </a:pPr>
            <a:r>
              <a:t>我们的团队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45720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554480"/>
          </a:xfrm>
          <a:prstGeom prst="roundRect">
            <a:avLst/>
          </a:prstGeom>
          <a:solidFill>
            <a:srgbClr val="EF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111111"/>
                </a:solidFill>
                <a:latin typeface="Microsoft YaHei"/>
              </a:defRPr>
            </a:pPr>
            <a:r>
              <a:t>技术实力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核心团队由计算机专业学生组成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03520" cy="1554480"/>
          </a:xfrm>
          <a:prstGeom prst="roundRect">
            <a:avLst/>
          </a:prstGeom>
          <a:solidFill>
            <a:srgbClr val="EF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111111"/>
                </a:solidFill>
                <a:latin typeface="Microsoft YaHei"/>
              </a:defRPr>
            </a:pPr>
            <a:r>
              <a:t>综合能力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前端开发、产品设计、项目管理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303520" cy="1554480"/>
          </a:xfrm>
          <a:prstGeom prst="roundRect">
            <a:avLst/>
          </a:prstGeom>
          <a:solidFill>
            <a:srgbClr val="EF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111111"/>
                </a:solidFill>
                <a:latin typeface="Microsoft YaHei"/>
              </a:defRPr>
            </a:pPr>
            <a:r>
              <a:t>导师支持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指导老师来自计算机学院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31920"/>
            <a:ext cx="5303520" cy="1554480"/>
          </a:xfrm>
          <a:prstGeom prst="roundRect">
            <a:avLst/>
          </a:prstGeom>
          <a:solidFill>
            <a:srgbClr val="EF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93192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2000" b="1" i="0">
                <a:solidFill>
                  <a:srgbClr val="111111"/>
                </a:solidFill>
                <a:latin typeface="Microsoft YaHei"/>
              </a:defRPr>
            </a:pPr>
            <a:r>
              <a:t>创新精神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720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6B7280"/>
                </a:solidFill>
                <a:latin typeface="Microsoft YaHei"/>
              </a:defRPr>
            </a:pPr>
            <a:r>
              <a:t>以学生为中心，用技术改善校园生活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00"/>
              </a:lnSpc>
              <a:defRPr sz="5200" b="1" i="0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3017520"/>
            <a:ext cx="2743200" cy="54864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00"/>
              </a:lnSpc>
              <a:defRPr sz="2400" b="0" i="0">
                <a:solidFill>
                  <a:srgbClr val="BBDEFB"/>
                </a:solidFill>
                <a:latin typeface="Microsoft YaHei"/>
              </a:defRPr>
            </a:pPr>
            <a:r>
              <a:t>智慧校园 -- 让管理更简单，让服务更温暖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2800" b="1" i="0">
                <a:solidFill>
                  <a:srgbClr val="93C5FD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60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